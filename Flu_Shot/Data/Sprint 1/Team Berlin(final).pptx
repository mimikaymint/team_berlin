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ctI9P8H9dtf+fbNMuItqZInm5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aaff98ac1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aaff98ac1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8aaff98ac1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5cc88a80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5cc88a8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5cc88a80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variables- age group 5-9 and 10-14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region Northen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level of education primary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5cc88a80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5cc88a80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85cc88a80b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5cc88a80b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5cc88a80b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85cc88a80b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2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20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114431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background with blue squares&#10;&#10;AI-generated content may be incorrect." id="90" name="Google Shape;90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" l="121" r="1" t="0"/>
          <a:stretch/>
        </p:blipFill>
        <p:spPr>
          <a:xfrm>
            <a:off x="20" y="10"/>
            <a:ext cx="12191980" cy="68662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2683702" y="2044714"/>
            <a:ext cx="619412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Sprint 1- Presentation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Team Berlin – Flu Shot Dataset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09-10-2025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114431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957192" y="2984166"/>
            <a:ext cx="6194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264875" y="1923699"/>
            <a:ext cx="10515600" cy="4119445"/>
            <a:chOff x="0" y="153224"/>
            <a:chExt cx="10515600" cy="4119445"/>
          </a:xfrm>
        </p:grpSpPr>
        <p:sp>
          <p:nvSpPr>
            <p:cNvPr id="100" name="Google Shape;100;p2"/>
            <p:cNvSpPr/>
            <p:nvPr/>
          </p:nvSpPr>
          <p:spPr>
            <a:xfrm>
              <a:off x="0" y="153224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93DCF8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48547" y="201771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Do demographics such as the Age group, Sex etc influence the </a:t>
              </a:r>
              <a:r>
                <a:rPr b="1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rate</a:t>
              </a: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of the flu shot?.</a:t>
              </a:r>
              <a:endParaRPr b="1" sz="25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0" y="1145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93DCF8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48547" y="1193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How do behavioral </a:t>
              </a:r>
              <a:r>
                <a:rPr b="1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patterns</a:t>
              </a: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influence the </a:t>
              </a:r>
              <a:r>
                <a:rPr b="1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rate</a:t>
              </a: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of the flu shot?.</a:t>
              </a:r>
              <a:endParaRPr b="1" sz="25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0" y="22116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93DCF8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48547" y="22602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Are there distinct groups of individuals (clusters) with similar characteristics in relation to flu shot demographics?</a:t>
              </a:r>
              <a:endParaRPr b="1" sz="25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0" y="3278169"/>
              <a:ext cx="10515600" cy="994500"/>
            </a:xfrm>
            <a:prstGeom prst="roundRect">
              <a:avLst>
                <a:gd fmla="val 16667" name="adj"/>
              </a:avLst>
            </a:prstGeom>
            <a:solidFill>
              <a:srgbClr val="93DCF8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48547" y="3326716"/>
              <a:ext cx="10418506" cy="897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1" i="0" lang="en-US" sz="25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Do personal beliefs and opinions influence the likelihood of receiving H1N1 or seasonal flu vaccines?</a:t>
              </a:r>
              <a:endParaRPr b="1" sz="25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aaff98ac1_3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8aaff98ac1_3_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g38aaff98ac1_3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5cc88a80b_0_0"/>
          <p:cNvSpPr txBox="1"/>
          <p:nvPr>
            <p:ph idx="4294967295" type="body"/>
          </p:nvPr>
        </p:nvSpPr>
        <p:spPr>
          <a:xfrm>
            <a:off x="422850" y="1330650"/>
            <a:ext cx="10386000" cy="5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Noto Sans Symbols"/>
              <a:buChar char="➢"/>
            </a:pP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Missing data:</a:t>
            </a:r>
            <a:r>
              <a:rPr lang="en-US" sz="1683">
                <a:solidFill>
                  <a:srgbClr val="4E4E4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Simple Imputer was used to fill in the columns with missing data.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Calibri"/>
              <a:buChar char="➢"/>
            </a:pP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For categorical columns, mode was used to fill in the most occuring data.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Calibri"/>
              <a:buChar char="➢"/>
            </a:pP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For Numerical columns, median was used to fill in the average which makes it resistance to outliers 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Noto Sans Symbols"/>
              <a:buChar char="➢"/>
            </a:pP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Categorical data:</a:t>
            </a: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 The dataset, 3 types of categorical data was found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Calibri"/>
              <a:buChar char="➢"/>
            </a:pP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Ordinal Features:</a:t>
            </a: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 Ordinal encoding was used to keep the ranks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Calibri"/>
              <a:buChar char="➢"/>
            </a:pP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Nominal</a:t>
            </a: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Variable:</a:t>
            </a: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 One hot encoding was used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-1977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84"/>
              <a:buFont typeface="Calibri"/>
              <a:buChar char="➢"/>
            </a:pPr>
            <a:r>
              <a:rPr lang="en-US" sz="1683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Binary Variables:</a:t>
            </a:r>
            <a:r>
              <a:rPr lang="en-US" sz="1683">
                <a:latin typeface="Calibri"/>
                <a:ea typeface="Calibri"/>
                <a:cs typeface="Calibri"/>
                <a:sym typeface="Calibri"/>
              </a:rPr>
              <a:t> This was passed through</a:t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8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number of people&#10;&#10;AI-generated content may be incorrect.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499" y="913428"/>
            <a:ext cx="3193193" cy="197977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vaccinated numbers and a graph of education&#10;&#10;AI-generated content may be incorrect." id="130" name="Google Shape;130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3518" y="876409"/>
            <a:ext cx="3252903" cy="20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a vaccine&#10;&#10;AI-generated content may be incorrect.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549" y="4021477"/>
            <a:ext cx="3104943" cy="192506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code&#10;&#10;AI-generated content may be incorrect.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5268" y="3718304"/>
            <a:ext cx="3252903" cy="22282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graph of vaccinated numbers and a female and male&#10;&#10;AI-generated content may be incorrect." id="136" name="Google Shape;13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13518" y="3979125"/>
            <a:ext cx="3252903" cy="201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4624919" y="589893"/>
            <a:ext cx="2936140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F4F14"/>
                </a:solidFill>
                <a:latin typeface="Calibri"/>
                <a:ea typeface="Calibri"/>
                <a:cs typeface="Calibri"/>
                <a:sym typeface="Calibri"/>
              </a:rPr>
              <a:t>Key Findings (Demographics)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844872" y="2030988"/>
            <a:ext cx="23496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➢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&lt;= $75,000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➢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Race : White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➢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= College Graduates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➢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Sex= Females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3745283" y="724083"/>
            <a:ext cx="5173249" cy="767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Opinions &amp; Behaviours</a:t>
            </a:r>
            <a:endParaRPr b="1" sz="32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graph&#10;&#10;AI-generated content may be incorrect.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110" y="2688283"/>
            <a:ext cx="3236469" cy="36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864012" y="1491158"/>
            <a:ext cx="913242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F4F1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➢"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Opinions: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vaccination rates among those concerned about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H1N1 risks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➢"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Behaviors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Highest vaccination rates among those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recommended by a doctor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get the vaccine.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➢"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Correlation:</a:t>
            </a:r>
            <a:r>
              <a:rPr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Doctor’s recommendation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beliefs about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 shot effectiveness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the strongest impact on vaccination rates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descr="A graph of different colored columns&#10;&#10;AI-generated content may be incorrect."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253" y="4570541"/>
            <a:ext cx="4946484" cy="17309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blue and grey bars&#10;&#10;AI-generated content may be incorrect." id="147" name="Google Shape;14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253" y="2620264"/>
            <a:ext cx="4946481" cy="1730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/>
        </p:nvSpPr>
        <p:spPr>
          <a:xfrm>
            <a:off x="6215876" y="4657758"/>
            <a:ext cx="4734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➢"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Region:</a:t>
            </a: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“Bhuqouqj” recorded the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vaccination rates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➢"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Area type:</a:t>
            </a: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Semi-urban residents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received the most vaccines.</a:t>
            </a:r>
            <a:endParaRPr/>
          </a:p>
        </p:txBody>
      </p:sp>
      <p:pic>
        <p:nvPicPr>
          <p:cNvPr descr="A graph of blue and grey bars&#10;&#10;AI-generated content may be incorrect.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9974" y="1726986"/>
            <a:ext cx="3603321" cy="213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aph of blue and grey bars&#10;&#10;AI-generated content may be incorrect.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42" y="1726986"/>
            <a:ext cx="3603321" cy="213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arison of blue and grey bars&#10;&#10;AI-generated content may be incorrect." id="156" name="Google Shape;15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954" y="4207496"/>
            <a:ext cx="5468530" cy="230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4055741" y="799264"/>
            <a:ext cx="50381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Key Findings (Location)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/>
              <a:t>‹#›</a:t>
            </a:fld>
            <a:endParaRPr sz="1000"/>
          </a:p>
        </p:txBody>
      </p:sp>
      <p:sp>
        <p:nvSpPr>
          <p:cNvPr id="164" name="Google Shape;164;p5"/>
          <p:cNvSpPr txBox="1"/>
          <p:nvPr>
            <p:ph idx="4294967295" type="title"/>
          </p:nvPr>
        </p:nvSpPr>
        <p:spPr>
          <a:xfrm>
            <a:off x="3899498" y="889301"/>
            <a:ext cx="3878263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Cluster Insights </a:t>
            </a:r>
            <a:endParaRPr/>
          </a:p>
        </p:txBody>
      </p:sp>
      <p:pic>
        <p:nvPicPr>
          <p:cNvPr descr="A graph with a line&#10;&#10;AI-generated content may be incorrect." id="165" name="Google Shape;165;p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996" y="4549617"/>
            <a:ext cx="3148563" cy="20752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5"/>
          <p:cNvGrpSpPr/>
          <p:nvPr/>
        </p:nvGrpSpPr>
        <p:grpSpPr>
          <a:xfrm>
            <a:off x="4280310" y="4428023"/>
            <a:ext cx="6271125" cy="2196884"/>
            <a:chOff x="4280310" y="4428023"/>
            <a:chExt cx="6271125" cy="2196884"/>
          </a:xfrm>
        </p:grpSpPr>
        <p:pic>
          <p:nvPicPr>
            <p:cNvPr descr="A graph of a number of people&#10;&#10;AI-generated content may be incorrect." id="167" name="Google Shape;16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80310" y="4428023"/>
              <a:ext cx="3148563" cy="2196884"/>
            </a:xfrm>
            <a:prstGeom prst="rect">
              <a:avLst/>
            </a:prstGeom>
            <a:noFill/>
            <a:ln>
              <a:noFill/>
            </a:ln>
            <a:effectLst>
              <a:outerShdw blurRad="508000" rotWithShape="0" algn="tl" dir="5400000" dist="101600">
                <a:srgbClr val="000000">
                  <a:alpha val="9803"/>
                </a:srgbClr>
              </a:outerShdw>
            </a:effectLst>
          </p:spPr>
        </p:pic>
        <p:pic>
          <p:nvPicPr>
            <p:cNvPr descr="A screen shot of a white background&#10;&#10;AI-generated content may be incorrect." id="168" name="Google Shape;16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28847" y="5161408"/>
              <a:ext cx="3222588" cy="1463499"/>
            </a:xfrm>
            <a:prstGeom prst="rect">
              <a:avLst/>
            </a:prstGeom>
            <a:noFill/>
            <a:ln>
              <a:noFill/>
            </a:ln>
            <a:effectLst>
              <a:outerShdw blurRad="508000" rotWithShape="0" algn="tl" dir="5400000" dist="101600">
                <a:srgbClr val="000000">
                  <a:alpha val="9803"/>
                </a:srgbClr>
              </a:outerShdw>
            </a:effectLst>
          </p:spPr>
        </p:pic>
      </p:grpSp>
      <p:pic>
        <p:nvPicPr>
          <p:cNvPr descr="A graph with a line&#10;&#10;AI-generated content may be incorrect." id="169" name="Google Shape;1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3996" y="2097732"/>
            <a:ext cx="3148791" cy="207506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5"/>
          <p:cNvSpPr txBox="1"/>
          <p:nvPr/>
        </p:nvSpPr>
        <p:spPr>
          <a:xfrm>
            <a:off x="578734" y="1299209"/>
            <a:ext cx="11062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➢"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Vaccinated: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 distinct groups identified — predominantly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Females, College graduates, White, Income &lt;=$75K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 age groups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➢"/>
            </a:pPr>
            <a:r>
              <a:rPr b="1" lang="en-US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Unvaccinated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4 distinct groups identified —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Males &amp; Females, College graduates &amp; Some college, White, Income &lt;=$75K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with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varied age groups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5"/>
          <p:cNvGrpSpPr/>
          <p:nvPr/>
        </p:nvGrpSpPr>
        <p:grpSpPr>
          <a:xfrm>
            <a:off x="4130205" y="2064527"/>
            <a:ext cx="5952291" cy="2108270"/>
            <a:chOff x="4130205" y="2064527"/>
            <a:chExt cx="5952291" cy="2108270"/>
          </a:xfrm>
        </p:grpSpPr>
        <p:pic>
          <p:nvPicPr>
            <p:cNvPr descr="A graph of a vaccination&#10;&#10;AI-generated content may be incorrect." id="172" name="Google Shape;17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130205" y="2064527"/>
              <a:ext cx="3416851" cy="21082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screen shot of a college&#10;&#10;AI-generated content may be incorrect." id="173" name="Google Shape;17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428873" y="3428542"/>
              <a:ext cx="2653623" cy="74425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85cc88a80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1300" y="5410200"/>
            <a:ext cx="14859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85cc88a80b_0_6"/>
          <p:cNvSpPr txBox="1"/>
          <p:nvPr>
            <p:ph idx="4294967295" type="body"/>
          </p:nvPr>
        </p:nvSpPr>
        <p:spPr>
          <a:xfrm>
            <a:off x="4715900" y="625125"/>
            <a:ext cx="4166700" cy="2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 fontScale="47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9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5259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Noto Sans Symbols"/>
              <a:buChar char="⮚"/>
            </a:pPr>
            <a:r>
              <a:rPr b="1" lang="en-US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Correlated columns: </a:t>
            </a: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columns that were highly correlated were 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doctor recommendation of seasonal and h1n1 vaccine</a:t>
            </a:r>
            <a:endParaRPr>
              <a:solidFill>
                <a:schemeClr val="dk2"/>
              </a:solidFill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Behavioral correction people who avoided large gatherings, also avoid been outside the home</a:t>
            </a:r>
            <a:endParaRPr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People opinion of risk is similar in both seasonal and h1n1 vaccine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b="0" i="0" lang="en-US" sz="1900" u="none" cap="none" strike="noStrike"/>
            </a:br>
            <a:endParaRPr b="0" i="0" sz="19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85cc88a80b_0_6"/>
          <p:cNvSpPr txBox="1"/>
          <p:nvPr/>
        </p:nvSpPr>
        <p:spPr>
          <a:xfrm rot="981">
            <a:off x="5577625" y="301575"/>
            <a:ext cx="315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E4E4E"/>
                </a:solidFill>
                <a:latin typeface="Calibri"/>
                <a:ea typeface="Calibri"/>
                <a:cs typeface="Calibri"/>
                <a:sym typeface="Calibri"/>
              </a:rPr>
              <a:t>Feature Correlation Heatmap</a:t>
            </a:r>
            <a:endParaRPr sz="100">
              <a:solidFill>
                <a:srgbClr val="4E4E4E"/>
              </a:solidFill>
            </a:endParaRPr>
          </a:p>
        </p:txBody>
      </p:sp>
      <p:pic>
        <p:nvPicPr>
          <p:cNvPr id="182" name="Google Shape;182;g385cc88a80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7750" y="625125"/>
            <a:ext cx="7649450" cy="6232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85cc88a80b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13138" y="5535325"/>
            <a:ext cx="862236" cy="119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85cc88a80b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700" y="3559500"/>
            <a:ext cx="3932950" cy="206233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85cc88a80b_0_6"/>
          <p:cNvSpPr txBox="1"/>
          <p:nvPr/>
        </p:nvSpPr>
        <p:spPr>
          <a:xfrm>
            <a:off x="71050" y="1521200"/>
            <a:ext cx="41667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Correlated columns: doctor recommendation for seasonal and h1n1 vaccine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Behavioral correction people who avoided large gatherings, also avoid been outside the home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opinion of risk is similar in both seasonal and h1n1 vaccine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85cc88a80b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500" y="138750"/>
            <a:ext cx="6582624" cy="347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85cc88a80b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6575" y="3680375"/>
            <a:ext cx="6270552" cy="31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85cc88a80b_0_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615375"/>
            <a:ext cx="5271776" cy="28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5cc88a80b_0_19"/>
          <p:cNvSpPr txBox="1"/>
          <p:nvPr/>
        </p:nvSpPr>
        <p:spPr>
          <a:xfrm>
            <a:off x="152325" y="1330600"/>
            <a:ext cx="52719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For the both vaccines the most important features are opinion_seasonal_risk, opinion_seas_vacc_effective, hhs_geo_region,doctor_recc_h1n1 and age group.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H1N1 </a:t>
            </a:r>
            <a:r>
              <a:rPr lang="en-US" sz="1500">
                <a:solidFill>
                  <a:schemeClr val="dk1"/>
                </a:solidFill>
              </a:rPr>
              <a:t>dominant</a:t>
            </a:r>
            <a:r>
              <a:rPr lang="en-US" sz="1500">
                <a:solidFill>
                  <a:schemeClr val="dk1"/>
                </a:solidFill>
              </a:rPr>
              <a:t> features: doctor_recc and opinion_h1n1_risk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-US" sz="1500">
                <a:solidFill>
                  <a:schemeClr val="dk1"/>
                </a:solidFill>
              </a:rPr>
              <a:t>Seasonal dominant features: opinion_sea_risk and opinion_seas_vacc_effective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			                  </a:t>
            </a:r>
            <a:r>
              <a:rPr b="1"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grpSp>
        <p:nvGrpSpPr>
          <p:cNvPr id="200" name="Google Shape;200;p8"/>
          <p:cNvGrpSpPr/>
          <p:nvPr/>
        </p:nvGrpSpPr>
        <p:grpSpPr>
          <a:xfrm>
            <a:off x="979884" y="2299282"/>
            <a:ext cx="9396000" cy="3134149"/>
            <a:chOff x="559800" y="608594"/>
            <a:chExt cx="9396000" cy="3134149"/>
          </a:xfrm>
        </p:grpSpPr>
        <p:sp>
          <p:nvSpPr>
            <p:cNvPr id="201" name="Google Shape;201;p8"/>
            <p:cNvSpPr/>
            <p:nvPr/>
          </p:nvSpPr>
          <p:spPr>
            <a:xfrm>
              <a:off x="1747800" y="608594"/>
              <a:ext cx="1944000" cy="194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559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 txBox="1"/>
            <p:nvPr/>
          </p:nvSpPr>
          <p:spPr>
            <a:xfrm>
              <a:off x="559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Yes, </a:t>
              </a: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demographics and behavior patterns</a:t>
              </a: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influence the likelihood of accepting vaccination</a:t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6823800" y="608594"/>
              <a:ext cx="1944000" cy="194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635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 txBox="1"/>
            <p:nvPr/>
          </p:nvSpPr>
          <p:spPr>
            <a:xfrm>
              <a:off x="5635800" y="3022743"/>
              <a:ext cx="432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Next step:</a:t>
              </a: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Further analyze </a:t>
              </a: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distinct groups</a:t>
              </a: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improve data balance and </a:t>
              </a:r>
              <a:r>
                <a:rPr b="1"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prediction accuracy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"/>
          <p:cNvSpPr txBox="1"/>
          <p:nvPr>
            <p:ph idx="4294967295" type="title"/>
          </p:nvPr>
        </p:nvSpPr>
        <p:spPr>
          <a:xfrm>
            <a:off x="3829246" y="3429000"/>
            <a:ext cx="4805362" cy="129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Thank You For Your Attention!!</a:t>
            </a:r>
            <a:endParaRPr/>
          </a:p>
        </p:txBody>
      </p:sp>
      <p:pic>
        <p:nvPicPr>
          <p:cNvPr descr="Smiling Face with No Fill" id="212" name="Google Shape;2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2025-10-08T19:48:46Z</dcterms:created>
  <dc:creator>Gwcl Technical</dc:creator>
</cp:coreProperties>
</file>